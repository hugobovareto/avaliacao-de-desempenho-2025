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33"/>
  </p:notesMasterIdLst>
  <p:sldIdLst>
    <p:sldId id="256" r:id="rId2"/>
    <p:sldId id="276" r:id="rId3"/>
    <p:sldId id="277" r:id="rId4"/>
    <p:sldId id="272" r:id="rId5"/>
    <p:sldId id="289" r:id="rId6"/>
    <p:sldId id="301" r:id="rId7"/>
    <p:sldId id="298" r:id="rId8"/>
    <p:sldId id="299" r:id="rId9"/>
    <p:sldId id="290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  <p:sldId id="315" r:id="rId24"/>
    <p:sldId id="275" r:id="rId25"/>
    <p:sldId id="283" r:id="rId26"/>
    <p:sldId id="284" r:id="rId27"/>
    <p:sldId id="285" r:id="rId28"/>
    <p:sldId id="286" r:id="rId29"/>
    <p:sldId id="287" r:id="rId30"/>
    <p:sldId id="316" r:id="rId31"/>
    <p:sldId id="293" r:id="rId32"/>
  </p:sldIdLst>
  <p:sldSz cx="9144000" cy="5143500" type="screen16x9"/>
  <p:notesSz cx="6858000" cy="9144000"/>
  <p:embeddedFontLst>
    <p:embeddedFont>
      <p:font typeface="Catamaran ExtraBold" panose="020B0604020202020204" charset="0"/>
      <p:bold r:id="rId34"/>
    </p:embeddedFont>
    <p:embeddedFont>
      <p:font typeface="Nunito" pitchFamily="2" charset="0"/>
      <p:regular r:id="rId35"/>
      <p:bold r:id="rId36"/>
      <p:italic r:id="rId37"/>
      <p:boldItalic r:id="rId38"/>
    </p:embeddedFont>
    <p:embeddedFont>
      <p:font typeface="Nunito ExtraBold" pitchFamily="2" charset="0"/>
      <p:bold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6DC"/>
    <a:srgbClr val="CC8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41775463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41775463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4433cd25ef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g34433cd25ef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4433cd25ef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4433cd25ef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41858a217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41858a217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5B7D436E-8CFC-0A0C-0C32-8B5C81DC1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80BF559-01F7-0342-CAAC-5084836BAD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4280C0A-4E1D-FB1E-4432-12F73DC3D6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548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0D8C8D83-E5C0-D93F-7D21-9EE2015D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B9A8D79-3980-DD17-3798-C87289D66E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AC16D134-51C4-7214-00EB-3553314580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774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8915645D-69C5-1E5E-DDAE-C54FCD2CA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59B1195D-D0B2-6CEA-2FFE-671AC3D1BD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F165D855-D189-42E8-95D8-079E754634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84554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AF7D001A-3D9D-093F-8632-6F32C5509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F516E20F-B25B-91BE-A496-E18151BCBE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B823014C-7804-4ED3-D156-8B38C7BEB8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5145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2C377DA2-A3BC-2937-6E95-BEED5C28F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7C0CA4AA-03F5-4DD9-98A3-C310FE910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985902B9-43A9-44BF-D01F-95F4BC1354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85086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2A45FAEC-FDF8-CD01-161C-35786D0E2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03116048-0A28-6DF5-71FC-F5B90924C5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43527797-2644-B511-BF96-C2F5E8EE55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3589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810ECDD2-378F-C11C-EF2F-F43D3E51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266216CE-994B-A3A6-6924-CE3C0E37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8BA229E7-188E-401A-2CE8-9E5D16D5BB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2107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496F262D-F00F-C88F-75A3-FB10A17A0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CF0DE602-B622-4F0E-149F-C62A661E62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34A9E304-CD1A-5825-B23D-9459351C1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10115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0D826FE4-1961-F2DC-42D6-AF7B1C8F3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3739A662-FA68-544A-07F0-397AE55A5C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42556B89-1E91-818F-9C1B-7B11DDFD5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0250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3861238A-DBD3-74B4-CF16-2478A797A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B321EB15-4C55-46FD-C31A-590F9CB54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CD5B44BF-78EB-F212-2FCA-B76294287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826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A96EA28D-8AA3-518E-B840-BF9167C33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A338C22-3CF1-94E3-A66E-2114A9D81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68FF3618-C609-57CA-C1A2-E5DD7101B9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93804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F2F250FE-ADFF-0BF6-A40E-35555A95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6C589635-BACA-5EEE-0923-0A9AE17FDD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29829D8-95AB-96B9-4E4E-A64A55EFA6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86971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DF764C5F-B788-A792-ABFF-22335B72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83A87040-2205-56C1-A7F3-D5A8BCE46D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D6E9062-0484-1DBE-E546-43BAC431E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56444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23F59B44-AB7B-5B80-BD91-DA3BD2C0A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2487B5BE-05E6-7F0C-47E2-00E7C04AA2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437A52E-28B4-5C46-69C4-BA0660545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46393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6B1869CA-A468-BD85-A5F9-1EA18FD5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023E7F36-F97D-246A-7EE7-9C9211B44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B185355F-D43E-AAC1-59FB-ED3A2A13AC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8963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9C76EDD0-0E6A-CF4B-C6F6-5D67477CB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F0D51B93-39B7-AE29-9CB1-FBD9D2AF8A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3490F514-5A59-0877-DEA9-48427A012A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48843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BDD68253-42DD-4B53-B634-90531E91A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C52CA0FF-068F-0583-493D-C7B60BDC12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FCF95A3D-7DF1-DE73-F6A7-CF5EFAF95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6354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41858a21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g341858a21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41858a217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41858a217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41858a217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41858a217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41858a217f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41858a217f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41858a217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41858a217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41858a217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41858a217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7C59F665-E10D-88C0-EE84-606D4FAB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41858a217f_0_57:notes">
            <a:extLst>
              <a:ext uri="{FF2B5EF4-FFF2-40B4-BE49-F238E27FC236}">
                <a16:creationId xmlns:a16="http://schemas.microsoft.com/office/drawing/2014/main" id="{2D3B0B3A-F8F1-BB9C-CADF-77ECFABC3D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41858a217f_0_57:notes">
            <a:extLst>
              <a:ext uri="{FF2B5EF4-FFF2-40B4-BE49-F238E27FC236}">
                <a16:creationId xmlns:a16="http://schemas.microsoft.com/office/drawing/2014/main" id="{FB18C583-D78A-2A50-8491-2B7629774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342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4177546355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4177546355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GARN_IDV_elementos_algodãoamareloclar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71523">
            <a:off x="2392029" y="4269901"/>
            <a:ext cx="228381" cy="560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 title="GARN_IDV_elementos_algodãoamareloclar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824407">
            <a:off x="2012200" y="4107865"/>
            <a:ext cx="323899" cy="678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 title="GARN_IDV_elementos_algodãomarromclar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249561">
            <a:off x="1626050" y="4102260"/>
            <a:ext cx="323901" cy="795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title="GARN_IDV_elementos_algodãorosaclaro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62959" y="4252233"/>
            <a:ext cx="285038" cy="59629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 rot="10800000">
            <a:off x="-39" y="-5"/>
            <a:ext cx="9144000" cy="3870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 rot="10800000">
            <a:off x="-39" y="386995"/>
            <a:ext cx="9144000" cy="387000"/>
          </a:xfrm>
          <a:prstGeom prst="rect">
            <a:avLst/>
          </a:prstGeom>
          <a:solidFill>
            <a:srgbClr val="F4AD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p3" title="GARN_IDV_elementos_sol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53113" y="-1610850"/>
            <a:ext cx="4043448" cy="4043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GARN_IDV_elementos_folhaverde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5400000">
            <a:off x="96225" y="247823"/>
            <a:ext cx="1174977" cy="943826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/>
          <p:nvPr/>
        </p:nvSpPr>
        <p:spPr>
          <a:xfrm rot="10800000">
            <a:off x="-39" y="4756495"/>
            <a:ext cx="9144000" cy="387000"/>
          </a:xfrm>
          <a:prstGeom prst="rect">
            <a:avLst/>
          </a:prstGeom>
          <a:solidFill>
            <a:srgbClr val="AED1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" name="Google Shape;23;p3" title="GARN_IDV_elementos_cacto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-206820" y="1679056"/>
            <a:ext cx="1557174" cy="3260897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597625" y="1218725"/>
            <a:ext cx="3408900" cy="204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ubTitle" idx="1"/>
          </p:nvPr>
        </p:nvSpPr>
        <p:spPr>
          <a:xfrm>
            <a:off x="1597625" y="3264725"/>
            <a:ext cx="3106800" cy="3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  <p:pic>
        <p:nvPicPr>
          <p:cNvPr id="26" name="Google Shape;26;p3" title="AssinaturasRégua-curta---hor---cor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755225" y="3640861"/>
            <a:ext cx="3106801" cy="8464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e seção 1 1 2 1 1 1 1 1 1 1">
  <p:cSld name="SECTION_HEADER_1_1_2_1_1_1_1_1_1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/>
          <p:nvPr/>
        </p:nvSpPr>
        <p:spPr>
          <a:xfrm rot="10800000">
            <a:off x="-250" y="3808400"/>
            <a:ext cx="9152100" cy="21267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3" name="Google Shape;143;p13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565600" y="3315325"/>
            <a:ext cx="1996023" cy="114957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3"/>
          <p:cNvSpPr txBox="1"/>
          <p:nvPr/>
        </p:nvSpPr>
        <p:spPr>
          <a:xfrm>
            <a:off x="332850" y="261050"/>
            <a:ext cx="183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rPr>
              <a:t>Ficha técnica</a:t>
            </a:r>
            <a:endParaRPr sz="1800" b="1">
              <a:solidFill>
                <a:srgbClr val="C4803F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4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6219000" cy="6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1600"/>
              <a:buNone/>
              <a:defRPr>
                <a:solidFill>
                  <a:srgbClr val="CC8A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14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48" name="Google Shape;148;p14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49" name="Google Shape;149;p14" title="GARN_IDV_elementos_folhamarrom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3600008">
            <a:off x="-144744" y="-138622"/>
            <a:ext cx="775609" cy="959294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4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1" name="Google Shape;151;p14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14" title="GARN_IDV_elementos_rnbandei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">
  <p:cSld name="TITLE_AND_BODY_2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5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1600"/>
              <a:buNone/>
              <a:defRPr>
                <a:solidFill>
                  <a:srgbClr val="F2A4DD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6" name="Google Shape;156;p15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8" name="Google Shape;158;p15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9" name="Google Shape;159;p15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5" title="GARN_IDV_elementos_velaro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00003">
            <a:off x="237825" y="53926"/>
            <a:ext cx="485101" cy="736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2">
  <p:cSld name="TITLE_AND_BODY_2_2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1600"/>
              <a:buNone/>
              <a:defRPr>
                <a:solidFill>
                  <a:srgbClr val="58A75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65" name="Google Shape;165;p16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16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7" name="Google Shape;167;p16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6" title="GARN_IDV_elementos_so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64025" y="-98112"/>
            <a:ext cx="1040625" cy="1040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1">
  <p:cSld name="TITLE_AND_BODY_2_1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77100" cy="67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17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72" name="Google Shape;172;p17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73" name="Google Shape;173;p17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74" name="Google Shape;174;p17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5" name="Google Shape;175;p17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7" title="GARN_IDV_elementos_cact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700000">
            <a:off x="-218461" y="10818"/>
            <a:ext cx="614671" cy="12871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1">
  <p:cSld name="TITLE_AND_BODY_1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8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79" name="Google Shape;179;p18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A6DC"/>
              </a:buClr>
              <a:buSzPts val="1600"/>
              <a:buNone/>
              <a:defRPr>
                <a:solidFill>
                  <a:srgbClr val="00A6D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pic>
        <p:nvPicPr>
          <p:cNvPr id="183" name="Google Shape;183;p18" title="GARN_IDV_elementos_rnazu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4776" y="192125"/>
            <a:ext cx="791099" cy="45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8" title="GARN_IDV_elementos_rnbandei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rgbClr val="F9D73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4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07" name="Google Shape;207;p24" title="GARN_IDV_elementos_solbranc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48525" y="1117125"/>
            <a:ext cx="2909251" cy="290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4"/>
          <p:cNvSpPr/>
          <p:nvPr/>
        </p:nvSpPr>
        <p:spPr>
          <a:xfrm>
            <a:off x="6508200" y="-10950"/>
            <a:ext cx="2635800" cy="5175000"/>
          </a:xfrm>
          <a:prstGeom prst="rect">
            <a:avLst/>
          </a:prstGeom>
          <a:solidFill>
            <a:srgbClr val="C480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209" name="Google Shape;209;p24" title="GARN_IDV_elementos_algodãobranc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99999">
            <a:off x="4928479" y="4035251"/>
            <a:ext cx="810901" cy="1696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4" title="GARN_IDV_elementos_folhaverdegrama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31175" y="327400"/>
            <a:ext cx="3412826" cy="2741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4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Nunito ExtraBold"/>
              <a:buNone/>
              <a:defRPr sz="2600" b="0">
                <a:solidFill>
                  <a:srgbClr val="C4803F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m uma coluna 1 1 1 2">
  <p:cSld name="ONE_COLUMN_TEXT_1_1_1_2">
    <p:bg>
      <p:bgPr>
        <a:solidFill>
          <a:srgbClr val="AED13F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/>
          <p:nvPr/>
        </p:nvSpPr>
        <p:spPr>
          <a:xfrm>
            <a:off x="6488750" y="-10925"/>
            <a:ext cx="2655300" cy="5175000"/>
          </a:xfrm>
          <a:prstGeom prst="rect">
            <a:avLst/>
          </a:prstGeom>
          <a:solidFill>
            <a:srgbClr val="C480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46" name="Google Shape;246;p29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47" name="Google Shape;247;p29" title="GARN_IDV_elementos_so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53324" y="1117126"/>
            <a:ext cx="2918851" cy="2918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9" title="GARN_IDV_elementos_rnamarel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5180" y="390854"/>
            <a:ext cx="2622390" cy="151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9" title="GARN_IDV_elementos_folhaverd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9000015">
            <a:off x="4871458" y="4002076"/>
            <a:ext cx="1174281" cy="1452373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Nunito ExtraBold"/>
              <a:buNone/>
              <a:defRPr sz="2600" b="0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nto principal 1">
  <p:cSld name="MAIN_POINT_1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81" name="Google Shape;281;p33" title="GARN_IDV_elementos_cacto5.png"/>
          <p:cNvPicPr preferRelativeResize="0"/>
          <p:nvPr/>
        </p:nvPicPr>
        <p:blipFill rotWithShape="1">
          <a:blip r:embed="rId2">
            <a:alphaModFix/>
          </a:blip>
          <a:srcRect l="28561"/>
          <a:stretch/>
        </p:blipFill>
        <p:spPr>
          <a:xfrm flipH="1">
            <a:off x="-232123" y="-333100"/>
            <a:ext cx="3067001" cy="6840602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33"/>
          <p:cNvSpPr/>
          <p:nvPr/>
        </p:nvSpPr>
        <p:spPr>
          <a:xfrm>
            <a:off x="-71675" y="0"/>
            <a:ext cx="2726100" cy="5143500"/>
          </a:xfrm>
          <a:prstGeom prst="rect">
            <a:avLst/>
          </a:prstGeom>
          <a:solidFill>
            <a:srgbClr val="AED1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83" name="Google Shape;283;p33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9pPr>
          </a:lstStyle>
          <a:p>
            <a:endParaRPr/>
          </a:p>
        </p:txBody>
      </p:sp>
      <p:pic>
        <p:nvPicPr>
          <p:cNvPr id="284" name="Google Shape;284;p33" title="GARN_IDV_elementos_rnmarrom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330" y="4012125"/>
            <a:ext cx="1537753" cy="8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3"/>
          <p:cNvSpPr txBox="1">
            <a:spLocks noGrp="1"/>
          </p:cNvSpPr>
          <p:nvPr>
            <p:ph type="subTitle" idx="1"/>
          </p:nvPr>
        </p:nvSpPr>
        <p:spPr>
          <a:xfrm>
            <a:off x="3310950" y="4461500"/>
            <a:ext cx="5252100" cy="3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nto principal 1 1">
  <p:cSld name="MAIN_POINT_1_1"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5"/>
          <p:cNvSpPr/>
          <p:nvPr/>
        </p:nvSpPr>
        <p:spPr>
          <a:xfrm>
            <a:off x="-71675" y="0"/>
            <a:ext cx="2726100" cy="51435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297" name="Google Shape;297;p35" title="GARN_IDV_elementos_cacto1.png"/>
          <p:cNvPicPr preferRelativeResize="0"/>
          <p:nvPr/>
        </p:nvPicPr>
        <p:blipFill rotWithShape="1">
          <a:blip r:embed="rId2">
            <a:alphaModFix/>
          </a:blip>
          <a:srcRect l="28335"/>
          <a:stretch/>
        </p:blipFill>
        <p:spPr>
          <a:xfrm flipH="1">
            <a:off x="-252126" y="-333100"/>
            <a:ext cx="3087001" cy="6840602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5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99" name="Google Shape;299;p35" title="GARN_IDV_elementos_rnamarel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355" y="4012117"/>
            <a:ext cx="1537725" cy="8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35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01" name="Google Shape;301;p35"/>
          <p:cNvSpPr txBox="1">
            <a:spLocks noGrp="1"/>
          </p:cNvSpPr>
          <p:nvPr>
            <p:ph type="subTitle" idx="1"/>
          </p:nvPr>
        </p:nvSpPr>
        <p:spPr>
          <a:xfrm>
            <a:off x="3310950" y="4461500"/>
            <a:ext cx="5252100" cy="3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úmero grande 1">
  <p:cSld name="BIG_NUMBER_1">
    <p:bg>
      <p:bgPr>
        <a:solidFill>
          <a:srgbClr val="FDE6F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9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grpSp>
        <p:nvGrpSpPr>
          <p:cNvPr id="320" name="Google Shape;320;p39"/>
          <p:cNvGrpSpPr/>
          <p:nvPr/>
        </p:nvGrpSpPr>
        <p:grpSpPr>
          <a:xfrm>
            <a:off x="-50" y="4601175"/>
            <a:ext cx="9144000" cy="551600"/>
            <a:chOff x="-50" y="4601175"/>
            <a:chExt cx="9144000" cy="551600"/>
          </a:xfrm>
        </p:grpSpPr>
        <p:sp>
          <p:nvSpPr>
            <p:cNvPr id="321" name="Google Shape;321;p39"/>
            <p:cNvSpPr/>
            <p:nvPr/>
          </p:nvSpPr>
          <p:spPr>
            <a:xfrm rot="10800000">
              <a:off x="-50" y="4761575"/>
              <a:ext cx="9144000" cy="391200"/>
            </a:xfrm>
            <a:prstGeom prst="rect">
              <a:avLst/>
            </a:prstGeom>
            <a:solidFill>
              <a:srgbClr val="58A7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22" name="Google Shape;322;p39" title="GARN_IDV_elementos_rnbandeira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81175" y="4601175"/>
              <a:ext cx="693400" cy="39934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23" name="Google Shape;323;p39" title="GARN_IDV_elementos_cacto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873" y="1547050"/>
            <a:ext cx="2302127" cy="3317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9" title="GARN_IDV_elementos_s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60150" y="-436125"/>
            <a:ext cx="1623199" cy="162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39"/>
          <p:cNvSpPr txBox="1">
            <a:spLocks noGrp="1"/>
          </p:cNvSpPr>
          <p:nvPr>
            <p:ph type="title"/>
          </p:nvPr>
        </p:nvSpPr>
        <p:spPr>
          <a:xfrm>
            <a:off x="3464500" y="1256625"/>
            <a:ext cx="4655100" cy="22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úmero grande 1 1">
  <p:cSld name="BIG_NUMBER_1_1">
    <p:bg>
      <p:bgPr>
        <a:solidFill>
          <a:srgbClr val="FFE6D9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40" title="GARN_IDV_elementos_posteros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5799" y="2899299"/>
            <a:ext cx="836524" cy="1924977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40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grpSp>
        <p:nvGrpSpPr>
          <p:cNvPr id="329" name="Google Shape;329;p40"/>
          <p:cNvGrpSpPr/>
          <p:nvPr/>
        </p:nvGrpSpPr>
        <p:grpSpPr>
          <a:xfrm>
            <a:off x="-50" y="4601175"/>
            <a:ext cx="9144000" cy="551600"/>
            <a:chOff x="-50" y="4601175"/>
            <a:chExt cx="9144000" cy="551600"/>
          </a:xfrm>
        </p:grpSpPr>
        <p:sp>
          <p:nvSpPr>
            <p:cNvPr id="330" name="Google Shape;330;p40"/>
            <p:cNvSpPr/>
            <p:nvPr/>
          </p:nvSpPr>
          <p:spPr>
            <a:xfrm rot="10800000">
              <a:off x="-50" y="4761575"/>
              <a:ext cx="9144000" cy="391200"/>
            </a:xfrm>
            <a:prstGeom prst="rect">
              <a:avLst/>
            </a:prstGeom>
            <a:solidFill>
              <a:srgbClr val="58A7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31" name="Google Shape;331;p40" title="GARN_IDV_elementos_rnbandeira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81175" y="4601175"/>
              <a:ext cx="693400" cy="39934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32" name="Google Shape;332;p40" title="GARN_IDV_elementos_posteros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1848" y="1479449"/>
            <a:ext cx="1453550" cy="3344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40" title="GARN_IDV_elementos_s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60150" y="-436125"/>
            <a:ext cx="1623199" cy="162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40"/>
          <p:cNvSpPr txBox="1">
            <a:spLocks noGrp="1"/>
          </p:cNvSpPr>
          <p:nvPr>
            <p:ph type="title"/>
          </p:nvPr>
        </p:nvSpPr>
        <p:spPr>
          <a:xfrm>
            <a:off x="3464500" y="1256625"/>
            <a:ext cx="4655100" cy="22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41" title="GARN_IDV_elementos_so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498876" y="269326"/>
            <a:ext cx="2918851" cy="2918876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41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338" name="Google Shape;338;p41"/>
          <p:cNvSpPr/>
          <p:nvPr/>
        </p:nvSpPr>
        <p:spPr>
          <a:xfrm>
            <a:off x="50" y="1650325"/>
            <a:ext cx="9144000" cy="35139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39" name="Google Shape;339;p41" title="AssinaturasRégua-grande---branc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014" y="3592325"/>
            <a:ext cx="7485972" cy="108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1600"/>
              <a:buFont typeface="Nunito"/>
              <a:buNone/>
              <a:defRPr sz="16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29210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70" r:id="rId8"/>
    <p:sldLayoutId id="2147483675" r:id="rId9"/>
    <p:sldLayoutId id="2147483679" r:id="rId10"/>
    <p:sldLayoutId id="2147483681" r:id="rId11"/>
    <p:sldLayoutId id="2147483685" r:id="rId12"/>
    <p:sldLayoutId id="2147483686" r:id="rId13"/>
    <p:sldLayoutId id="2147483687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2"/>
          <p:cNvSpPr txBox="1">
            <a:spLocks noGrp="1"/>
          </p:cNvSpPr>
          <p:nvPr>
            <p:ph type="title"/>
          </p:nvPr>
        </p:nvSpPr>
        <p:spPr>
          <a:xfrm>
            <a:off x="1597624" y="1435429"/>
            <a:ext cx="3757157" cy="129391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/>
              <a:t>Avaliação de Desempenho 2025</a:t>
            </a:r>
            <a:endParaRPr sz="2800" dirty="0"/>
          </a:p>
        </p:txBody>
      </p:sp>
      <p:sp>
        <p:nvSpPr>
          <p:cNvPr id="345" name="Google Shape;345;p42"/>
          <p:cNvSpPr txBox="1">
            <a:spLocks noGrp="1"/>
          </p:cNvSpPr>
          <p:nvPr>
            <p:ph type="subTitle" idx="1"/>
          </p:nvPr>
        </p:nvSpPr>
        <p:spPr>
          <a:xfrm>
            <a:off x="1597624" y="2980707"/>
            <a:ext cx="6805157" cy="3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800" b="1" dirty="0"/>
              <a:t>{{nome}}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62"/>
          <p:cNvSpPr txBox="1">
            <a:spLocks noGrp="1"/>
          </p:cNvSpPr>
          <p:nvPr>
            <p:ph type="title"/>
          </p:nvPr>
        </p:nvSpPr>
        <p:spPr>
          <a:xfrm>
            <a:off x="2629158" y="224461"/>
            <a:ext cx="6296373" cy="86312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Competências Gerais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3D62C18-6B73-72BF-AF36-F372BF65A6FD}"/>
              </a:ext>
            </a:extLst>
          </p:cNvPr>
          <p:cNvSpPr txBox="1">
            <a:spLocks/>
          </p:cNvSpPr>
          <p:nvPr/>
        </p:nvSpPr>
        <p:spPr>
          <a:xfrm>
            <a:off x="2629158" y="995686"/>
            <a:ext cx="2005652" cy="86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Autoavaliação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nota_auto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AE212427-3CF3-F982-717F-45AB13F517FE}"/>
              </a:ext>
            </a:extLst>
          </p:cNvPr>
          <p:cNvSpPr txBox="1">
            <a:spLocks/>
          </p:cNvSpPr>
          <p:nvPr/>
        </p:nvSpPr>
        <p:spPr>
          <a:xfrm>
            <a:off x="4634810" y="995686"/>
            <a:ext cx="2062466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Líderes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CAF56A1F-502A-9BAE-6FEA-94017C33371B}"/>
              </a:ext>
            </a:extLst>
          </p:cNvPr>
          <p:cNvSpPr txBox="1">
            <a:spLocks/>
          </p:cNvSpPr>
          <p:nvPr/>
        </p:nvSpPr>
        <p:spPr>
          <a:xfrm>
            <a:off x="6697276" y="995685"/>
            <a:ext cx="2228255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Liderados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nota_liderado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5" name="Google Shape;494;p69">
            <a:extLst>
              <a:ext uri="{FF2B5EF4-FFF2-40B4-BE49-F238E27FC236}">
                <a16:creationId xmlns:a16="http://schemas.microsoft.com/office/drawing/2014/main" id="{A08C05E1-6AEC-5DCD-6A5D-291520A3DA18}"/>
              </a:ext>
            </a:extLst>
          </p:cNvPr>
          <p:cNvSpPr txBox="1">
            <a:spLocks/>
          </p:cNvSpPr>
          <p:nvPr/>
        </p:nvSpPr>
        <p:spPr>
          <a:xfrm>
            <a:off x="2964873" y="1932709"/>
            <a:ext cx="5960658" cy="260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radar_geral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59;p62">
            <a:extLst>
              <a:ext uri="{FF2B5EF4-FFF2-40B4-BE49-F238E27FC236}">
                <a16:creationId xmlns:a16="http://schemas.microsoft.com/office/drawing/2014/main" id="{43281DC7-3459-08A0-7F6A-BB54F5D6F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29158" y="224461"/>
            <a:ext cx="6296373" cy="86312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Competências de Liderança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E4F56376-998C-709A-4016-152E6EB8108C}"/>
              </a:ext>
            </a:extLst>
          </p:cNvPr>
          <p:cNvSpPr txBox="1">
            <a:spLocks/>
          </p:cNvSpPr>
          <p:nvPr/>
        </p:nvSpPr>
        <p:spPr>
          <a:xfrm>
            <a:off x="2629158" y="995686"/>
            <a:ext cx="2005652" cy="86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Autoavaliação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nota_lider_auto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CA7CF135-3A94-0ED4-BFE9-72B2CB411235}"/>
              </a:ext>
            </a:extLst>
          </p:cNvPr>
          <p:cNvSpPr txBox="1">
            <a:spLocks/>
          </p:cNvSpPr>
          <p:nvPr/>
        </p:nvSpPr>
        <p:spPr>
          <a:xfrm>
            <a:off x="4634810" y="995686"/>
            <a:ext cx="2062466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Líderes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nota_lider_lider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5" name="Google Shape;494;p69">
            <a:extLst>
              <a:ext uri="{FF2B5EF4-FFF2-40B4-BE49-F238E27FC236}">
                <a16:creationId xmlns:a16="http://schemas.microsoft.com/office/drawing/2014/main" id="{F4B9F17F-8E69-9940-675A-A6F7701A0EB9}"/>
              </a:ext>
            </a:extLst>
          </p:cNvPr>
          <p:cNvSpPr txBox="1">
            <a:spLocks/>
          </p:cNvSpPr>
          <p:nvPr/>
        </p:nvSpPr>
        <p:spPr>
          <a:xfrm>
            <a:off x="6697276" y="995685"/>
            <a:ext cx="2228255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Liderados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nota_lider_liderado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6" name="Google Shape;494;p69">
            <a:extLst>
              <a:ext uri="{FF2B5EF4-FFF2-40B4-BE49-F238E27FC236}">
                <a16:creationId xmlns:a16="http://schemas.microsoft.com/office/drawing/2014/main" id="{EA14D775-3D49-0634-A7C2-9FC85227D05B}"/>
              </a:ext>
            </a:extLst>
          </p:cNvPr>
          <p:cNvSpPr txBox="1">
            <a:spLocks/>
          </p:cNvSpPr>
          <p:nvPr/>
        </p:nvSpPr>
        <p:spPr>
          <a:xfrm>
            <a:off x="2964873" y="1932709"/>
            <a:ext cx="5960658" cy="260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radar_geral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8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Detalhamento das competências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F4E36FA-1998-B53B-5CC5-51B736E1DC1D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como os desafios cotidianos estão relacionados a contextos mais amplos, do Estado e da política educacional.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7438848-8CFB-0B7E-23DA-F0F99A3ED3AD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{{VS_1}}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EB419A44-2583-B2EA-7CA2-7DD4680B3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0644C91C-8548-2165-4F14-5417A401B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F2D9DD7D-7B17-6D86-FEE8-A310A9092FAA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e compartilha com o time possíveis ferramentas e soluções para o andamento do projeto.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3E2FF0FB-F42F-F32D-3BA5-40C3A2A151D7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4127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E812BC5D-E166-255F-5D1E-97246B27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B924794C-503E-3F4F-C251-F5326FE5EE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951FB12E-8076-F687-0728-2130BBFD9FD6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Entende e colabora com as demais frentes do projeto, quando há oportunidade de trocas e compartilhamentos.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2C3F2DF-5405-0463-9AFE-6F3CCB9B5472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8091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CC998D59-5344-BC91-1216-48EC64DDF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0FF5C803-2EF6-7EAC-9910-7A48EAE6EA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643D1804-5D8D-F0C6-C990-C0663C7CBCAF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Demonstra compreensão do impacto do seu trabalho nos objetivos do time e da empresa.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F5A29DC-F2CC-870E-1FFD-B565A6110D61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{{VS_4}}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4168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CE26579-9ED8-0F68-0500-A9BECA6B674C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Mantém o canal aberto para troca, de forma que todos sintam-se à vontade de pedir direcionamentos e propor soluções.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711D5F0F-A1A0-2FA9-A5B0-E9830126B3E8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{{GL_1}}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752554A9-8B8B-FC49-655C-5462A490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CC6D925D-155E-58BE-A826-FF00098EA7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26EB29E9-082C-9C18-A72D-1E88AB78C9AA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Incentiva e colabora com as pessoas em suas jornadas de aprendizagem.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2B2A5259-2BEB-EA71-3A71-E99B3264FC6A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{{GL_2}}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890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B8E95000-0196-6D42-0F8E-232F66C98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E6DD40CA-258B-DB8F-07B1-233566E781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577AC33F-4D56-EFA2-2734-94D4C7EF843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Tem uma boa autogestão do seu tempo e das suas prioridades.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0EA2A6B3-A2FA-FAEB-EC84-AB2C56B5F873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{{GL_3}}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283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4A960EEF-D7BE-686A-57DD-4CAECE526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8E38F94C-E94E-6303-2A32-E85F8BA6D8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Relacionamento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9E83F5E6-6D86-3035-17A7-5DEC0D0CCF7C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Cativa os parceiros e constrói uma relação de parceria virtuosa e duradoura.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0F1FAC0C-5A58-F0AF-FFD8-35F5E7EE8734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{{REL_1}}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04304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A2994483-A0B9-6F72-7BFE-E66C3C8BC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760B10EE-8E70-A946-2EF2-5572E3D32C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Relacionamento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0AFA315D-3852-D6D3-6429-B7D378B7D44B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Cria vínculos profissionais de confiança, é aberto e se torna uma referência positiva para os parceiros.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5089DE9A-EFA9-795A-40D6-F200F8144FAD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{{REL_2}}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86572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93AED10C-7176-4021-7DD4-EAAE4AD6A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465F90E7-ABC7-A8EF-628B-513E9B828A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4D175FD5-BC2F-83AD-72C8-2CD422A08EAF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É assertivo, consegue passar de forma objetiva a ideia que deseja.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547F2768-3227-3BB8-AA1D-37715A013C13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{{COM_1}}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443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3F29A92B-7F5F-1944-9BA9-0ADB43678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BB9EEC4B-866A-FA42-772B-493E0B29AA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88C15FC-0D9F-40E0-2A89-3E96B9A0275C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Se comunica de forma clara, aberta e não violenta.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36139D18-951F-BD3A-37E8-F9EA66CE4C4B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{{COM_2}}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5531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D2527BA0-CFC4-E688-E698-68D00C549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1F0DA609-CFC3-4210-E34B-4B5C18B368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6BFF6DE-4F66-1220-6375-E1B2024875E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Percebe a importância da comunicação não verbal e o impacto no ambiente de trabalho, prezando por uma postura profissional, ética e adequada aos ambientes profissionais em que está inserido.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694DB428-7AB1-7117-8C92-8B67C8CAEFBB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{{COM_3}}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6137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3EC43D09-A0E2-24BD-4582-5C799907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18D3D5C7-1502-D701-8243-A29511DB4C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9151736-E37A-8F6C-C62B-9633D2EC7F3C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Compartilha a própria experiência, conhecimentos especializados e boas práticas com outros(as) colaboradores(as).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A68AE35-F1AF-A8D6-2C81-1C54477F2347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9670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6F4E1673-0D49-D585-7C75-0383EC9E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4AC282D3-F17C-9ABB-EB92-3F3065C74C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FBE1B230-D0EE-8D23-11DD-55A3D3C20CB6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e utiliza conhecimentos de fontes internas e externas no trabalho para potencializar a sua atuação profissional.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CA331E5-1C63-4126-C226-3B8179CB80EE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866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A01AC423-2F2B-6DC7-5594-B610119E0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D4F3B2F5-A82F-9D39-DA7D-651D70E261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3E8C0B9C-32A1-26CD-C652-CB7AF5F2F980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Busca se desenvolver em conhecimentos que percebe que são necessário e que ainda representam lacunas na sua atuação.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B60A8C1-36EF-2DD2-AF24-7460E64DB051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1614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19081224-3C21-7300-002D-E8B4B5F28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CA858665-5E51-2587-E227-945F9284FD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DE2B152-4349-26CD-DCC0-13A6EEC444FB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Tem autonomia no próprio desenvolvimento e aprendizado.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8ADE670-7FC9-4C1D-FDC7-18CE5437D5E2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{{AD_4}}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96596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F1786AFE-D794-730A-39C1-7885C663C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A2DB8F65-0FF9-37D3-B291-43E82A847C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0D462921-5E91-B75E-3CE7-61C1E9481336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Identifica, encaminha, endereça e resolve as dificuldades encontradas no dia a dia.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1F405C5A-A157-566C-E96D-280E84DF292D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{{EX_1}}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55658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08180E11-0D4C-FFEA-70BE-E17E8B923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1E324675-03EE-5B52-72EC-6ED86DA283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3970CAA-9BDE-28EC-D6B1-7F45815E9EF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Sabe lidar com questões conjunturais e imprevistos, compreendendo as necessidades do projeto e realiza as alterações de rota quando necessário, conseguindo entregar valor aos clientes.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98CAB03-74F5-51B0-D279-3A733643C616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{{EX_2}}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3556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B25AA1DE-A2EF-7B24-6023-C36065389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6C0D5C13-A912-71AD-EAB9-666CD79C77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F50E948-9439-ADFB-5604-0BD5D82D7421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Transforma ideias em ações concretas que contribuam com melhorias e resultados do projeto.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B84EE85B-E3C3-A01A-41E8-BC4376B0B40E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{{EX_3}}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4935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61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Questões Abertas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9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Autoavaliação</a:t>
            </a:r>
            <a:endParaRPr dirty="0"/>
          </a:p>
        </p:txBody>
      </p:sp>
      <p:sp>
        <p:nvSpPr>
          <p:cNvPr id="495" name="Google Shape;495;p69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PF_auto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1BF15D9-F1CB-A43D-4959-306E2FDA3D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Respondido pela Liderança</a:t>
            </a:r>
            <a:endParaRPr dirty="0"/>
          </a:p>
        </p:txBody>
      </p:sp>
      <p:sp>
        <p:nvSpPr>
          <p:cNvPr id="3" name="Google Shape;495;p69">
            <a:extLst>
              <a:ext uri="{FF2B5EF4-FFF2-40B4-BE49-F238E27FC236}">
                <a16:creationId xmlns:a16="http://schemas.microsoft.com/office/drawing/2014/main" id="{6A8A7C1B-10D1-3529-3C4B-2FB512C09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PF_lider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E657CD64-7829-73BF-341D-05157CDF73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Respondido pelos Liderados</a:t>
            </a:r>
            <a:endParaRPr dirty="0"/>
          </a:p>
        </p:txBody>
      </p:sp>
      <p:sp>
        <p:nvSpPr>
          <p:cNvPr id="5" name="Google Shape;495;p69">
            <a:extLst>
              <a:ext uri="{FF2B5EF4-FFF2-40B4-BE49-F238E27FC236}">
                <a16:creationId xmlns:a16="http://schemas.microsoft.com/office/drawing/2014/main" id="{A15A85E3-60FB-9E2C-F498-FC2ECE2B3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PF_liderado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72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Oportunidades de Desenvolvimento:</a:t>
            </a:r>
            <a:br>
              <a:rPr lang="pt-BR" dirty="0"/>
            </a:br>
            <a:r>
              <a:rPr lang="pt-BR" dirty="0"/>
              <a:t>Autoavaliação</a:t>
            </a:r>
            <a:endParaRPr dirty="0"/>
          </a:p>
        </p:txBody>
      </p:sp>
      <p:sp>
        <p:nvSpPr>
          <p:cNvPr id="2" name="Google Shape;495;p69">
            <a:extLst>
              <a:ext uri="{FF2B5EF4-FFF2-40B4-BE49-F238E27FC236}">
                <a16:creationId xmlns:a16="http://schemas.microsoft.com/office/drawing/2014/main" id="{AB23CA61-4BB9-257C-6E00-6870B7656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OD_auto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15;p72">
            <a:extLst>
              <a:ext uri="{FF2B5EF4-FFF2-40B4-BE49-F238E27FC236}">
                <a16:creationId xmlns:a16="http://schemas.microsoft.com/office/drawing/2014/main" id="{9D2C1F01-8A14-60F1-7C89-2DCCBA7A12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00A6DC"/>
                </a:solidFill>
              </a:rPr>
              <a:t>Oportunidades de Desenvolvimento:</a:t>
            </a:r>
            <a:br>
              <a:rPr lang="pt-BR" dirty="0">
                <a:solidFill>
                  <a:srgbClr val="00A6DC"/>
                </a:solidFill>
              </a:rPr>
            </a:br>
            <a:r>
              <a:rPr lang="pt-BR" dirty="0">
                <a:solidFill>
                  <a:srgbClr val="00A6DC"/>
                </a:solidFill>
              </a:rPr>
              <a:t>Respondido pela Liderança</a:t>
            </a:r>
            <a:endParaRPr dirty="0">
              <a:solidFill>
                <a:srgbClr val="00A6DC"/>
              </a:solidFill>
            </a:endParaRPr>
          </a:p>
        </p:txBody>
      </p:sp>
      <p:sp>
        <p:nvSpPr>
          <p:cNvPr id="3" name="Google Shape;495;p69">
            <a:extLst>
              <a:ext uri="{FF2B5EF4-FFF2-40B4-BE49-F238E27FC236}">
                <a16:creationId xmlns:a16="http://schemas.microsoft.com/office/drawing/2014/main" id="{4D2771D3-5C4A-6DA5-2B00-41083A703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OD_lider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>
          <a:extLst>
            <a:ext uri="{FF2B5EF4-FFF2-40B4-BE49-F238E27FC236}">
              <a16:creationId xmlns:a16="http://schemas.microsoft.com/office/drawing/2014/main" id="{9A9797EA-2C72-A077-F91D-ABCFAC6A9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9">
            <a:extLst>
              <a:ext uri="{FF2B5EF4-FFF2-40B4-BE49-F238E27FC236}">
                <a16:creationId xmlns:a16="http://schemas.microsoft.com/office/drawing/2014/main" id="{EB13F054-EAFC-5685-C39A-6E77052F3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00A6DC"/>
                </a:solidFill>
              </a:rPr>
              <a:t>Oportunidades de Desenvolvimento:</a:t>
            </a:r>
            <a:br>
              <a:rPr lang="pt-BR" dirty="0">
                <a:solidFill>
                  <a:srgbClr val="00A6DC"/>
                </a:solidFill>
              </a:rPr>
            </a:br>
            <a:r>
              <a:rPr lang="pt-BR" dirty="0">
                <a:solidFill>
                  <a:srgbClr val="00A6DC"/>
                </a:solidFill>
              </a:rPr>
              <a:t>Respondido pelos Liderados</a:t>
            </a:r>
            <a:endParaRPr dirty="0">
              <a:solidFill>
                <a:srgbClr val="00A6DC"/>
              </a:solidFill>
            </a:endParaRPr>
          </a:p>
        </p:txBody>
      </p:sp>
      <p:sp>
        <p:nvSpPr>
          <p:cNvPr id="495" name="Google Shape;495;p69">
            <a:extLst>
              <a:ext uri="{FF2B5EF4-FFF2-40B4-BE49-F238E27FC236}">
                <a16:creationId xmlns:a16="http://schemas.microsoft.com/office/drawing/2014/main" id="{A97917A5-56EE-0921-7EFD-78BDE236F9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OD_liderado</a:t>
            </a:r>
            <a:r>
              <a:rPr lang="pt-BR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1034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601</Words>
  <Application>Microsoft Office PowerPoint</Application>
  <PresentationFormat>Apresentação na tela (16:9)</PresentationFormat>
  <Paragraphs>89</Paragraphs>
  <Slides>31</Slides>
  <Notes>31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6" baseType="lpstr">
      <vt:lpstr>Nunito ExtraBold</vt:lpstr>
      <vt:lpstr>Arial</vt:lpstr>
      <vt:lpstr>Catamaran ExtraBold</vt:lpstr>
      <vt:lpstr>Nunito</vt:lpstr>
      <vt:lpstr>Simple Light</vt:lpstr>
      <vt:lpstr>Avaliação de Desempenho 2025</vt:lpstr>
      <vt:lpstr>Competências Gerais</vt:lpstr>
      <vt:lpstr>Competências de Liderança</vt:lpstr>
      <vt:lpstr>Detalhamento das competências</vt:lpstr>
      <vt:lpstr>Visão Sistêmica</vt:lpstr>
      <vt:lpstr>Visão Sistêmica</vt:lpstr>
      <vt:lpstr>Visão Sistêmica</vt:lpstr>
      <vt:lpstr>Visão Sistêmica</vt:lpstr>
      <vt:lpstr>Gestão e Liderança</vt:lpstr>
      <vt:lpstr>Gestão e Liderança</vt:lpstr>
      <vt:lpstr>Gestão e Liderança</vt:lpstr>
      <vt:lpstr>Relacionamento</vt:lpstr>
      <vt:lpstr>Relacionamento</vt:lpstr>
      <vt:lpstr>Comunicação</vt:lpstr>
      <vt:lpstr>Comunicação</vt:lpstr>
      <vt:lpstr>Comunicação</vt:lpstr>
      <vt:lpstr>Aprendizagem e Desenvolvimento</vt:lpstr>
      <vt:lpstr>Aprendizagem e Desenvolvimento</vt:lpstr>
      <vt:lpstr>Aprendizagem e Desenvolvimento</vt:lpstr>
      <vt:lpstr>Aprendizagem e Desenvolvimento</vt:lpstr>
      <vt:lpstr>Execução</vt:lpstr>
      <vt:lpstr>Execução</vt:lpstr>
      <vt:lpstr>Execução</vt:lpstr>
      <vt:lpstr>Questões Abertas</vt:lpstr>
      <vt:lpstr>Pontos Fortes: Autoavaliação</vt:lpstr>
      <vt:lpstr>Pontos Fortes: Respondido pela Liderança</vt:lpstr>
      <vt:lpstr>Pontos Fortes: Respondido pelos Liderados</vt:lpstr>
      <vt:lpstr>Oportunidades de Desenvolvimento: Autoavaliação</vt:lpstr>
      <vt:lpstr>Oportunidades de Desenvolvimento: Respondido pela Liderança</vt:lpstr>
      <vt:lpstr>Oportunidades de Desenvolvimento: Respondido pelos Liderados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Hugo Bovareto de Oliveira Horsth</cp:lastModifiedBy>
  <cp:revision>9</cp:revision>
  <dcterms:modified xsi:type="dcterms:W3CDTF">2025-12-12T00:48:09Z</dcterms:modified>
</cp:coreProperties>
</file>